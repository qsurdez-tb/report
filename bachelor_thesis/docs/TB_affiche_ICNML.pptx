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124"/>
    <p:restoredTop sz="94691"/>
  </p:normalViewPr>
  <p:slideViewPr>
    <p:cSldViewPr snapToGrid="0">
      <p:cViewPr varScale="1">
        <p:scale>
          <a:sx n="96" d="100"/>
          <a:sy n="96" d="100"/>
        </p:scale>
        <p:origin x="9808"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22.07.26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22.07.26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22.07.26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22.07.26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22.07.26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A0B852F2-88A6-6E75-FFB8-19AB74BD9C9A}"/>
              </a:ext>
            </a:extLst>
          </p:cNvPr>
          <p:cNvSpPr txBox="1"/>
          <p:nvPr/>
        </p:nvSpPr>
        <p:spPr>
          <a:xfrm>
            <a:off x="498810" y="2993180"/>
            <a:ext cx="473473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ICNML stocke des empreintes digitales pour la recherche forensique. Ces données biométriques sont sensibles, une fuite les compromet définitivement. Deux besoins en découlent, tracer toute image téléchargée et évaluer la qualité des traces.</a:t>
            </a:r>
          </a:p>
          <a:p>
            <a:endParaRPr lang="fr-CH" sz="1400" dirty="0">
              <a:effectLst/>
              <a:latin typeface="Arial" panose="020B0604020202020204" pitchFamily="34" charset="0"/>
              <a:cs typeface="Arial" panose="020B0604020202020204" pitchFamily="34" charset="0"/>
            </a:endParaRPr>
          </a:p>
          <a:p>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Deux développements. Remplacer </a:t>
            </a:r>
            <a:r>
              <a:rPr lang="fr-CH" sz="1400">
                <a:effectLst/>
                <a:latin typeface="Arial" panose="020B0604020202020204" pitchFamily="34" charset="0"/>
                <a:cs typeface="Arial" panose="020B0604020202020204" pitchFamily="34" charset="0"/>
              </a:rPr>
              <a:t>le tatouage </a:t>
            </a:r>
            <a:r>
              <a:rPr lang="fr-CH" sz="1400" dirty="0">
                <a:effectLst/>
                <a:latin typeface="Arial" panose="020B0604020202020204" pitchFamily="34" charset="0"/>
                <a:cs typeface="Arial" panose="020B0604020202020204" pitchFamily="34" charset="0"/>
              </a:rPr>
              <a:t>par code-barres, effacé d'un simple recadrage, </a:t>
            </a:r>
            <a:r>
              <a:rPr lang="fr-CH" sz="1400">
                <a:effectLst/>
                <a:latin typeface="Arial" panose="020B0604020202020204" pitchFamily="34" charset="0"/>
                <a:cs typeface="Arial" panose="020B0604020202020204" pitchFamily="34" charset="0"/>
              </a:rPr>
              <a:t>par une watermark invisible </a:t>
            </a:r>
            <a:r>
              <a:rPr lang="fr-CH" sz="1400" dirty="0">
                <a:effectLst/>
                <a:latin typeface="Arial" panose="020B0604020202020204" pitchFamily="34" charset="0"/>
                <a:cs typeface="Arial" panose="020B0604020202020204" pitchFamily="34" charset="0"/>
              </a:rPr>
              <a:t>et robuste. Et automatiser l'évaluation de la qualité des traces pour les formateurs.</a:t>
            </a:r>
          </a:p>
          <a:p>
            <a:endParaRPr lang="fr-CH" sz="1400" dirty="0">
              <a:effectLst/>
              <a:latin typeface="Arial" panose="020B0604020202020204" pitchFamily="34" charset="0"/>
              <a:cs typeface="Arial" panose="020B0604020202020204" pitchFamily="34" charset="0"/>
            </a:endParaRPr>
          </a:p>
          <a:p>
            <a:pPr algn="just"/>
            <a:endParaRPr lang="fr-CH" sz="1400" dirty="0">
              <a:effectLst/>
              <a:latin typeface="Arial" panose="020B0604020202020204" pitchFamily="34" charset="0"/>
              <a:cs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2885952"/>
            <a:ext cx="493520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r>
              <a:rPr lang="fr-CH" sz="1400" dirty="0">
                <a:effectLst/>
                <a:latin typeface="Arial" panose="020B0604020202020204" pitchFamily="34" charset="0"/>
                <a:cs typeface="Arial" panose="020B0604020202020204" pitchFamily="34" charset="0"/>
              </a:rPr>
              <a:t>Le filigrane </a:t>
            </a:r>
            <a:r>
              <a:rPr lang="fr-CH" sz="1400">
                <a:effectLst/>
                <a:latin typeface="Arial" panose="020B0604020202020204" pitchFamily="34" charset="0"/>
                <a:cs typeface="Arial" panose="020B0604020202020204" pitchFamily="34" charset="0"/>
              </a:rPr>
              <a:t>diffuse un identifiant chiffré dans </a:t>
            </a:r>
            <a:r>
              <a:rPr lang="fr-CH" sz="1400" dirty="0">
                <a:effectLst/>
                <a:latin typeface="Arial" panose="020B0604020202020204" pitchFamily="34" charset="0"/>
                <a:cs typeface="Arial" panose="020B0604020202020204" pitchFamily="34" charset="0"/>
              </a:rPr>
              <a:t>toute l'image, concentrée là où les crêtes la cachent et quasi </a:t>
            </a:r>
            <a:r>
              <a:rPr lang="fr-CH" sz="1400">
                <a:effectLst/>
                <a:latin typeface="Arial" panose="020B0604020202020204" pitchFamily="34" charset="0"/>
                <a:cs typeface="Arial" panose="020B0604020202020204" pitchFamily="34" charset="0"/>
              </a:rPr>
              <a:t>absente du fond (figure de gauche). Identifiant permettant d’accuser la personne qui partage l’image en dehors du cadre de recherche.</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La qualité est notée automatiquement par la métrique OpenLQM et affichée en carte de chaleur superposée à la trace (figure de droite).</a:t>
            </a:r>
          </a:p>
          <a:p>
            <a:br>
              <a:rPr lang="fr-CH" sz="1400" dirty="0">
                <a:effectLst/>
                <a:latin typeface="Arial" panose="020B0604020202020204" pitchFamily="34" charset="0"/>
                <a:cs typeface="Arial" panose="020B0604020202020204" pitchFamily="34" charset="0"/>
              </a:rPr>
            </a:br>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ICNML dispose désormais d'une traçabilité robuste de ses images et d'une évaluation de qualité immédiate, sur une base </a:t>
            </a:r>
            <a:r>
              <a:rPr lang="fr-CH" sz="1400" err="1">
                <a:effectLst/>
                <a:latin typeface="Arial" panose="020B0604020202020204" pitchFamily="34" charset="0"/>
                <a:cs typeface="Arial" panose="020B0604020202020204" pitchFamily="34" charset="0"/>
              </a:rPr>
              <a:t>migrée </a:t>
            </a:r>
            <a:r>
              <a:rPr lang="fr-CH" sz="1400">
                <a:effectLst/>
                <a:latin typeface="Arial" panose="020B0604020202020204" pitchFamily="34" charset="0"/>
                <a:cs typeface="Arial" panose="020B0604020202020204" pitchFamily="34" charset="0"/>
              </a:rPr>
              <a:t>de Python 2.7 à Python </a:t>
            </a:r>
            <a:r>
              <a:rPr lang="fr-CH" sz="1400" dirty="0" err="1">
                <a:effectLst/>
                <a:latin typeface="Arial" panose="020B0604020202020204" pitchFamily="34" charset="0"/>
                <a:cs typeface="Arial" panose="020B0604020202020204" pitchFamily="34" charset="0"/>
              </a:rPr>
              <a:t>3.11.</a:t>
            </a:r>
          </a:p>
        </p:txBody>
      </p:sp>
      <p:sp>
        <p:nvSpPr>
          <p:cNvPr id="17" name="ZoneTexte 16">
            <a:extLst>
              <a:ext uri="{FF2B5EF4-FFF2-40B4-BE49-F238E27FC236}">
                <a16:creationId xmlns:a16="http://schemas.microsoft.com/office/drawing/2014/main" id="{DDDAFB9F-C0A8-D814-CDBB-F3E5A99787DB}"/>
              </a:ext>
            </a:extLst>
          </p:cNvPr>
          <p:cNvSpPr txBox="1"/>
          <p:nvPr/>
        </p:nvSpPr>
        <p:spPr>
          <a:xfrm>
            <a:off x="410705" y="1458183"/>
            <a:ext cx="9698618" cy="1189493"/>
          </a:xfrm>
          <a:prstGeom prst="rect">
            <a:avLst/>
          </a:prstGeom>
          <a:noFill/>
        </p:spPr>
        <p:txBody>
          <a:bodyPr wrap="square">
            <a:spAutoFit/>
          </a:bodyPr>
          <a:lstStyle/>
          <a:p>
            <a:pPr algn="ctr">
              <a:lnSpc>
                <a:spcPts val="10800"/>
              </a:lnSpc>
            </a:pPr>
            <a:r>
              <a:rPr lang="fr-CH" sz="2000" b="1" dirty="0">
                <a:effectLst/>
                <a:latin typeface="Arial" panose="020B0604020202020204" pitchFamily="34" charset="0"/>
                <a:cs typeface="Arial" panose="020B0604020202020204" pitchFamily="34" charset="0"/>
              </a:rPr>
              <a:t>Modernisation et fiabilisation de la plateforme de traces biométriques ICNML</a:t>
            </a: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a:t>
            </a:r>
            <a:r>
              <a:rPr lang="fr-CH" sz="2400" b="1" dirty="0" err="1">
                <a:effectLst/>
                <a:latin typeface="Arial" panose="020B0604020202020204" pitchFamily="34" charset="0"/>
                <a:cs typeface="Arial" panose="020B0604020202020204" pitchFamily="34" charset="0"/>
              </a:rPr>
              <a:t>Bachelor</a:t>
            </a:r>
            <a:r>
              <a:rPr lang="fr-CH" sz="2400" b="1">
                <a:effectLst/>
                <a:latin typeface="Arial" panose="020B0604020202020204" pitchFamily="34" charset="0"/>
                <a:cs typeface="Arial" panose="020B0604020202020204" pitchFamily="34" charset="0"/>
              </a:rPr>
              <a:t> 2026</a:t>
            </a:r>
            <a:endParaRPr lang="fr-CH" sz="2400" b="1" dirty="0">
              <a:effectLst/>
              <a:latin typeface="Arial" panose="020B0604020202020204" pitchFamily="34" charset="0"/>
              <a:cs typeface="Arial" panose="020B0604020202020204" pitchFamily="34" charset="0"/>
            </a:endParaRP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ISCE </a:t>
            </a:r>
            <a:endParaRPr lang="fr-CH" sz="2400" dirty="0">
              <a:effectLst/>
              <a:latin typeface="Arial" panose="020B060402020202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200329"/>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a:t>
            </a:r>
            <a:r>
              <a:rPr lang="fr-CH" sz="1200">
                <a:latin typeface="Arial" panose="020B0604020202020204" pitchFamily="34" charset="0"/>
                <a:cs typeface="Arial" panose="020B0604020202020204" pitchFamily="34" charset="0"/>
              </a:rPr>
              <a:t>Quentin Surdez</a:t>
            </a:r>
          </a:p>
          <a:p>
            <a:r>
              <a:rPr lang="fr-CH" sz="1200">
                <a:latin typeface="Arial" panose="020B0604020202020204" pitchFamily="34" charset="0"/>
                <a:cs typeface="Arial" panose="020B0604020202020204" pitchFamily="34" charset="0"/>
              </a:rPr>
              <a:t>Prof. responsable:  Prof. Sylvain Pasini</a:t>
            </a:r>
          </a:p>
          <a:p>
            <a:r>
              <a:rPr lang="fr-CH" sz="1200">
                <a:latin typeface="Arial" panose="020B0604020202020204" pitchFamily="34" charset="0"/>
                <a:cs typeface="Arial" panose="020B0604020202020204" pitchFamily="34" charset="0"/>
              </a:rPr>
              <a:t>Sujet </a:t>
            </a:r>
            <a:r>
              <a:rPr lang="fr-CH" sz="1200" dirty="0">
                <a:latin typeface="Arial" panose="020B0604020202020204" pitchFamily="34" charset="0"/>
                <a:cs typeface="Arial" panose="020B0604020202020204" pitchFamily="34" charset="0"/>
              </a:rPr>
              <a:t>proposé par:  Christophe Champod (UNIL-ESC)</a:t>
            </a: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3"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4"/>
          <a:stretch>
            <a:fillRect/>
          </a:stretch>
        </p:blipFill>
        <p:spPr>
          <a:xfrm>
            <a:off x="498810" y="471311"/>
            <a:ext cx="1417561" cy="1061593"/>
          </a:xfrm>
          <a:prstGeom prst="rect">
            <a:avLst/>
          </a:prstGeom>
        </p:spPr>
      </p:pic>
      <p:pic>
        <p:nvPicPr>
          <p:cNvPr id="30" name="Picture 29" descr="region_masking.png"/>
          <p:cNvPicPr>
            <a:picLocks noChangeAspect="1"/>
          </p:cNvPicPr>
          <p:nvPr/>
        </p:nvPicPr>
        <p:blipFill>
          <a:blip r:embed="rId5"/>
          <a:stretch>
            <a:fillRect/>
          </a:stretch>
        </p:blipFill>
        <p:spPr>
          <a:xfrm>
            <a:off x="0" y="7559675"/>
            <a:ext cx="5439117" cy="4356369"/>
          </a:xfrm>
          <a:prstGeom prst="rect">
            <a:avLst/>
          </a:prstGeom>
        </p:spPr>
      </p:pic>
      <p:pic>
        <p:nvPicPr>
          <p:cNvPr id="31" name="Picture 30" descr="00-marks-detail.png"/>
          <p:cNvPicPr>
            <a:picLocks noChangeAspect="1"/>
          </p:cNvPicPr>
          <p:nvPr/>
        </p:nvPicPr>
        <p:blipFill>
          <a:blip r:embed="rId6"/>
          <a:stretch>
            <a:fillRect/>
          </a:stretch>
        </p:blipFill>
        <p:spPr>
          <a:xfrm>
            <a:off x="5586905" y="7559676"/>
            <a:ext cx="5104908" cy="4356368"/>
          </a:xfrm>
          <a:prstGeom prst="rect">
            <a:avLst/>
          </a:prstGeom>
        </p:spPr>
      </p:pic>
      <p:sp>
        <p:nvSpPr>
          <p:cNvPr id="32" name="TextBox 31"/>
          <p:cNvSpPr txBox="1"/>
          <p:nvPr/>
        </p:nvSpPr>
        <p:spPr>
          <a:xfrm>
            <a:off x="918848" y="12009299"/>
            <a:ext cx="3894655" cy="830997"/>
          </a:xfrm>
          <a:prstGeom prst="rect">
            <a:avLst/>
          </a:prstGeom>
          <a:noFill/>
        </p:spPr>
        <p:txBody>
          <a:bodyPr wrap="square">
            <a:spAutoFit/>
          </a:bodyPr>
          <a:lstStyle/>
          <a:p>
            <a:pPr algn="ctr"/>
            <a:r>
              <a:rPr sz="1600" i="1"/>
              <a:t>Filigrane invisible : concentré dans les crêtes (haute information), quasi absent du fond (basse information).</a:t>
            </a:r>
          </a:p>
        </p:txBody>
      </p:sp>
      <p:sp>
        <p:nvSpPr>
          <p:cNvPr id="33" name="TextBox 32"/>
          <p:cNvSpPr txBox="1"/>
          <p:nvPr/>
        </p:nvSpPr>
        <p:spPr>
          <a:xfrm>
            <a:off x="6322927" y="12009299"/>
            <a:ext cx="3632864" cy="584775"/>
          </a:xfrm>
          <a:prstGeom prst="rect">
            <a:avLst/>
          </a:prstGeom>
          <a:noFill/>
        </p:spPr>
        <p:txBody>
          <a:bodyPr wrap="square">
            <a:spAutoFit/>
          </a:bodyPr>
          <a:lstStyle/>
          <a:p>
            <a:pPr algn="ctr"/>
            <a:r>
              <a:rPr sz="1600" i="1"/>
              <a:t>Carte de qualité OpenLQM superposée à une trace.</a:t>
            </a:r>
          </a:p>
        </p:txBody>
      </p:sp>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3FAAD471-60E3-4269-8F77-1FB8D65951AF}">
  <ds:schemaRefs>
    <ds:schemaRef ds:uri="http://schemas.microsoft.com/sharepoint/v3/contenttype/forms"/>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emplate>Office Theme</Template>
  <TotalTime>318</TotalTime>
  <Words>270</Words>
  <Application>Microsoft Macintosh PowerPoint</Application>
  <PresentationFormat>Custom</PresentationFormat>
  <Paragraphs>26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Thème Office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Surdez Quentin</cp:lastModifiedBy>
  <cp:revision>13</cp:revision>
  <dcterms:created xsi:type="dcterms:W3CDTF">2025-01-21T07:50:37Z</dcterms:created>
  <dcterms:modified xsi:type="dcterms:W3CDTF">2026-07-22T12:54:13Z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